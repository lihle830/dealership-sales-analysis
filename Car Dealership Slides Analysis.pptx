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 Bold" panose="020B0604020202020204" charset="0"/>
      <p:regular r:id="rId19"/>
    </p:embeddedFont>
    <p:embeddedFont>
      <p:font typeface="Open San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931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6.pn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18.png"/><Relationship Id="rId1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5" Type="http://schemas.openxmlformats.org/officeDocument/2006/relationships/image" Target="../media/image26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23.png"/><Relationship Id="rId1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4189" y="5074875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828" y="8380100"/>
            <a:ext cx="18288128" cy="1906924"/>
          </a:xfrm>
          <a:custGeom>
            <a:avLst/>
            <a:gdLst/>
            <a:ahLst/>
            <a:cxnLst/>
            <a:rect l="l" t="t" r="r" b="b"/>
            <a:pathLst>
              <a:path w="18288128" h="1906924">
                <a:moveTo>
                  <a:pt x="0" y="0"/>
                </a:moveTo>
                <a:lnTo>
                  <a:pt x="18288128" y="0"/>
                </a:lnTo>
                <a:lnTo>
                  <a:pt x="18288128" y="1906924"/>
                </a:lnTo>
                <a:lnTo>
                  <a:pt x="0" y="1906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824688" y="438780"/>
            <a:ext cx="501342" cy="494880"/>
            <a:chOff x="0" y="0"/>
            <a:chExt cx="668456" cy="65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8401" cy="659892"/>
            </a:xfrm>
            <a:custGeom>
              <a:avLst/>
              <a:gdLst/>
              <a:ahLst/>
              <a:cxnLst/>
              <a:rect l="l" t="t" r="r" b="b"/>
              <a:pathLst>
                <a:path w="668401" h="659892">
                  <a:moveTo>
                    <a:pt x="333756" y="0"/>
                  </a:moveTo>
                  <a:cubicBezTo>
                    <a:pt x="333756" y="0"/>
                    <a:pt x="333756" y="329946"/>
                    <a:pt x="0" y="329946"/>
                  </a:cubicBezTo>
                  <a:cubicBezTo>
                    <a:pt x="333756" y="329946"/>
                    <a:pt x="333756" y="659892"/>
                    <a:pt x="333756" y="659892"/>
                  </a:cubicBezTo>
                  <a:cubicBezTo>
                    <a:pt x="333756" y="659892"/>
                    <a:pt x="333756" y="329946"/>
                    <a:pt x="668401" y="329946"/>
                  </a:cubicBezTo>
                  <a:cubicBezTo>
                    <a:pt x="333756" y="329946"/>
                    <a:pt x="333756" y="0"/>
                    <a:pt x="3337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66800" y="-93550"/>
            <a:ext cx="756696" cy="10458692"/>
            <a:chOff x="0" y="0"/>
            <a:chExt cx="1008928" cy="13944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8888" cy="13944600"/>
            </a:xfrm>
            <a:custGeom>
              <a:avLst/>
              <a:gdLst/>
              <a:ahLst/>
              <a:cxnLst/>
              <a:rect l="l" t="t" r="r" b="b"/>
              <a:pathLst>
                <a:path w="1008888" h="13944600">
                  <a:moveTo>
                    <a:pt x="10922" y="0"/>
                  </a:moveTo>
                  <a:lnTo>
                    <a:pt x="0" y="13932408"/>
                  </a:lnTo>
                  <a:lnTo>
                    <a:pt x="1008888" y="13944600"/>
                  </a:lnTo>
                  <a:lnTo>
                    <a:pt x="471043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471456" y="-93534"/>
            <a:ext cx="883500" cy="10610350"/>
            <a:chOff x="0" y="0"/>
            <a:chExt cx="1178000" cy="14147134"/>
          </a:xfrm>
        </p:grpSpPr>
        <p:sp>
          <p:nvSpPr>
            <p:cNvPr id="9" name="Freeform 9"/>
            <p:cNvSpPr/>
            <p:nvPr/>
          </p:nvSpPr>
          <p:spPr>
            <a:xfrm>
              <a:off x="381" y="0"/>
              <a:ext cx="1177163" cy="14147143"/>
            </a:xfrm>
            <a:custGeom>
              <a:avLst/>
              <a:gdLst/>
              <a:ahLst/>
              <a:cxnLst/>
              <a:rect l="l" t="t" r="r" b="b"/>
              <a:pathLst>
                <a:path w="1177163" h="14147143">
                  <a:moveTo>
                    <a:pt x="0" y="0"/>
                  </a:moveTo>
                  <a:lnTo>
                    <a:pt x="1167892" y="14147143"/>
                  </a:lnTo>
                  <a:lnTo>
                    <a:pt x="1167892" y="12384381"/>
                  </a:lnTo>
                  <a:lnTo>
                    <a:pt x="1177163" y="124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93976" y="9265150"/>
            <a:ext cx="6362692" cy="350098"/>
            <a:chOff x="0" y="0"/>
            <a:chExt cx="8483589" cy="466797"/>
          </a:xfrm>
        </p:grpSpPr>
        <p:sp>
          <p:nvSpPr>
            <p:cNvPr id="11" name="Freeform 11"/>
            <p:cNvSpPr/>
            <p:nvPr/>
          </p:nvSpPr>
          <p:spPr>
            <a:xfrm>
              <a:off x="0" y="254"/>
              <a:ext cx="8483600" cy="466598"/>
            </a:xfrm>
            <a:custGeom>
              <a:avLst/>
              <a:gdLst/>
              <a:ahLst/>
              <a:cxnLst/>
              <a:rect l="l" t="t" r="r" b="b"/>
              <a:pathLst>
                <a:path w="8483600" h="466598">
                  <a:moveTo>
                    <a:pt x="4243705" y="0"/>
                  </a:moveTo>
                  <a:cubicBezTo>
                    <a:pt x="1898269" y="0"/>
                    <a:pt x="0" y="103251"/>
                    <a:pt x="0" y="230378"/>
                  </a:cubicBezTo>
                  <a:cubicBezTo>
                    <a:pt x="0" y="362077"/>
                    <a:pt x="1898269" y="466598"/>
                    <a:pt x="4243705" y="466598"/>
                  </a:cubicBezTo>
                  <a:cubicBezTo>
                    <a:pt x="6584061" y="466598"/>
                    <a:pt x="8483600" y="361950"/>
                    <a:pt x="8483600" y="230378"/>
                  </a:cubicBezTo>
                  <a:cubicBezTo>
                    <a:pt x="8483600" y="103251"/>
                    <a:pt x="6584061" y="0"/>
                    <a:pt x="4243705" y="0"/>
                  </a:cubicBezTo>
                  <a:close/>
                </a:path>
              </a:pathLst>
            </a:custGeom>
            <a:solidFill>
              <a:srgbClr val="37495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780425" y="1882095"/>
            <a:ext cx="11713950" cy="279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11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Car Dealership</a:t>
            </a:r>
            <a:r>
              <a:rPr lang="en-US" sz="11000">
                <a:solidFill>
                  <a:srgbClr val="2A2E3F"/>
                </a:solidFill>
                <a:latin typeface="Arimo"/>
                <a:ea typeface="Arimo"/>
                <a:cs typeface="Arimo"/>
                <a:sym typeface="Arimo"/>
              </a:rPr>
              <a:t> Sales Analysis </a:t>
            </a:r>
          </a:p>
        </p:txBody>
      </p:sp>
      <p:sp>
        <p:nvSpPr>
          <p:cNvPr id="13" name="Freeform 13"/>
          <p:cNvSpPr/>
          <p:nvPr/>
        </p:nvSpPr>
        <p:spPr>
          <a:xfrm>
            <a:off x="9645342" y="6426015"/>
            <a:ext cx="680688" cy="2372707"/>
          </a:xfrm>
          <a:custGeom>
            <a:avLst/>
            <a:gdLst/>
            <a:ahLst/>
            <a:cxnLst/>
            <a:rect l="l" t="t" r="r" b="b"/>
            <a:pathLst>
              <a:path w="680688" h="2372707">
                <a:moveTo>
                  <a:pt x="0" y="0"/>
                </a:moveTo>
                <a:lnTo>
                  <a:pt x="680688" y="0"/>
                </a:lnTo>
                <a:lnTo>
                  <a:pt x="680688" y="2372707"/>
                </a:lnTo>
                <a:lnTo>
                  <a:pt x="0" y="23727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507005" y="853637"/>
            <a:ext cx="354604" cy="350126"/>
            <a:chOff x="0" y="0"/>
            <a:chExt cx="472805" cy="4668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821" cy="466852"/>
            </a:xfrm>
            <a:custGeom>
              <a:avLst/>
              <a:gdLst/>
              <a:ahLst/>
              <a:cxnLst/>
              <a:rect l="l" t="t" r="r" b="b"/>
              <a:pathLst>
                <a:path w="472821" h="466852">
                  <a:moveTo>
                    <a:pt x="236093" y="0"/>
                  </a:moveTo>
                  <a:cubicBezTo>
                    <a:pt x="236093" y="0"/>
                    <a:pt x="236093" y="233426"/>
                    <a:pt x="0" y="233426"/>
                  </a:cubicBezTo>
                  <a:cubicBezTo>
                    <a:pt x="236093" y="233426"/>
                    <a:pt x="236093" y="466852"/>
                    <a:pt x="236093" y="466852"/>
                  </a:cubicBezTo>
                  <a:cubicBezTo>
                    <a:pt x="236093" y="466852"/>
                    <a:pt x="236093" y="233426"/>
                    <a:pt x="472821" y="233426"/>
                  </a:cubicBezTo>
                  <a:cubicBezTo>
                    <a:pt x="236093" y="233426"/>
                    <a:pt x="236093" y="0"/>
                    <a:pt x="23609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3039581" y="4802740"/>
            <a:ext cx="7119708" cy="3577360"/>
          </a:xfrm>
          <a:custGeom>
            <a:avLst/>
            <a:gdLst/>
            <a:ahLst/>
            <a:cxnLst/>
            <a:rect l="l" t="t" r="r" b="b"/>
            <a:pathLst>
              <a:path w="7119708" h="3577360">
                <a:moveTo>
                  <a:pt x="0" y="0"/>
                </a:moveTo>
                <a:lnTo>
                  <a:pt x="7119708" y="0"/>
                </a:lnTo>
                <a:lnTo>
                  <a:pt x="7119708" y="3577360"/>
                </a:lnTo>
                <a:lnTo>
                  <a:pt x="0" y="3577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484344" y="6288594"/>
            <a:ext cx="7019596" cy="2976556"/>
          </a:xfrm>
          <a:custGeom>
            <a:avLst/>
            <a:gdLst/>
            <a:ahLst/>
            <a:cxnLst/>
            <a:rect l="l" t="t" r="r" b="b"/>
            <a:pathLst>
              <a:path w="7019596" h="2976556">
                <a:moveTo>
                  <a:pt x="0" y="0"/>
                </a:moveTo>
                <a:lnTo>
                  <a:pt x="7019596" y="0"/>
                </a:lnTo>
                <a:lnTo>
                  <a:pt x="7019596" y="2976556"/>
                </a:lnTo>
                <a:lnTo>
                  <a:pt x="0" y="29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233673" y="861283"/>
            <a:ext cx="501342" cy="342480"/>
            <a:chOff x="0" y="0"/>
            <a:chExt cx="668456" cy="456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8401" cy="456692"/>
            </a:xfrm>
            <a:custGeom>
              <a:avLst/>
              <a:gdLst/>
              <a:ahLst/>
              <a:cxnLst/>
              <a:rect l="l" t="t" r="r" b="b"/>
              <a:pathLst>
                <a:path w="668401" h="456692">
                  <a:moveTo>
                    <a:pt x="333756" y="0"/>
                  </a:moveTo>
                  <a:cubicBezTo>
                    <a:pt x="333756" y="0"/>
                    <a:pt x="333756" y="228338"/>
                    <a:pt x="0" y="228338"/>
                  </a:cubicBezTo>
                  <a:cubicBezTo>
                    <a:pt x="333756" y="228338"/>
                    <a:pt x="333756" y="456692"/>
                    <a:pt x="333756" y="456692"/>
                  </a:cubicBezTo>
                  <a:cubicBezTo>
                    <a:pt x="333756" y="456692"/>
                    <a:pt x="333756" y="228338"/>
                    <a:pt x="668401" y="228338"/>
                  </a:cubicBezTo>
                  <a:cubicBezTo>
                    <a:pt x="333756" y="228338"/>
                    <a:pt x="333756" y="0"/>
                    <a:pt x="3337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54088" y="5135796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828" y="8380100"/>
            <a:ext cx="18288128" cy="1906924"/>
          </a:xfrm>
          <a:custGeom>
            <a:avLst/>
            <a:gdLst/>
            <a:ahLst/>
            <a:cxnLst/>
            <a:rect l="l" t="t" r="r" b="b"/>
            <a:pathLst>
              <a:path w="18288128" h="1906924">
                <a:moveTo>
                  <a:pt x="0" y="0"/>
                </a:moveTo>
                <a:lnTo>
                  <a:pt x="18288128" y="0"/>
                </a:lnTo>
                <a:lnTo>
                  <a:pt x="18288128" y="1906924"/>
                </a:lnTo>
                <a:lnTo>
                  <a:pt x="0" y="1906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66800" y="-93550"/>
            <a:ext cx="756696" cy="10458692"/>
            <a:chOff x="0" y="0"/>
            <a:chExt cx="1008928" cy="139449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8888" cy="13944600"/>
            </a:xfrm>
            <a:custGeom>
              <a:avLst/>
              <a:gdLst/>
              <a:ahLst/>
              <a:cxnLst/>
              <a:rect l="l" t="t" r="r" b="b"/>
              <a:pathLst>
                <a:path w="1008888" h="13944600">
                  <a:moveTo>
                    <a:pt x="10922" y="0"/>
                  </a:moveTo>
                  <a:lnTo>
                    <a:pt x="0" y="13932408"/>
                  </a:lnTo>
                  <a:lnTo>
                    <a:pt x="1008888" y="13944600"/>
                  </a:lnTo>
                  <a:lnTo>
                    <a:pt x="471043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471456" y="-93534"/>
            <a:ext cx="883500" cy="10458676"/>
            <a:chOff x="0" y="0"/>
            <a:chExt cx="1178000" cy="13944901"/>
          </a:xfrm>
        </p:grpSpPr>
        <p:sp>
          <p:nvSpPr>
            <p:cNvPr id="7" name="Freeform 7"/>
            <p:cNvSpPr/>
            <p:nvPr/>
          </p:nvSpPr>
          <p:spPr>
            <a:xfrm>
              <a:off x="381" y="0"/>
              <a:ext cx="1177163" cy="13944910"/>
            </a:xfrm>
            <a:custGeom>
              <a:avLst/>
              <a:gdLst/>
              <a:ahLst/>
              <a:cxnLst/>
              <a:rect l="l" t="t" r="r" b="b"/>
              <a:pathLst>
                <a:path w="1177163" h="13944910">
                  <a:moveTo>
                    <a:pt x="0" y="0"/>
                  </a:moveTo>
                  <a:lnTo>
                    <a:pt x="1167892" y="13944910"/>
                  </a:lnTo>
                  <a:lnTo>
                    <a:pt x="1167892" y="12207348"/>
                  </a:lnTo>
                  <a:lnTo>
                    <a:pt x="1177163" y="12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9489389" y="4712695"/>
            <a:ext cx="680688" cy="2372707"/>
          </a:xfrm>
          <a:custGeom>
            <a:avLst/>
            <a:gdLst/>
            <a:ahLst/>
            <a:cxnLst/>
            <a:rect l="l" t="t" r="r" b="b"/>
            <a:pathLst>
              <a:path w="680688" h="2372707">
                <a:moveTo>
                  <a:pt x="0" y="0"/>
                </a:moveTo>
                <a:lnTo>
                  <a:pt x="680688" y="0"/>
                </a:lnTo>
                <a:lnTo>
                  <a:pt x="680688" y="2372708"/>
                </a:lnTo>
                <a:lnTo>
                  <a:pt x="0" y="2372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26317" y="3089393"/>
            <a:ext cx="12969150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8001" b="1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R7 606 367 587,00</a:t>
            </a:r>
          </a:p>
          <a:p>
            <a:pPr algn="ctr">
              <a:lnSpc>
                <a:spcPts val="9601"/>
              </a:lnSpc>
            </a:pPr>
            <a:endParaRPr lang="en-US" sz="8001" b="1">
              <a:solidFill>
                <a:srgbClr val="0E2A47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26317" y="1289833"/>
            <a:ext cx="1296915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0195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9408544"/>
            <a:ext cx="18339280" cy="878456"/>
          </a:xfrm>
          <a:custGeom>
            <a:avLst/>
            <a:gdLst/>
            <a:ahLst/>
            <a:cxnLst/>
            <a:rect l="l" t="t" r="r" b="b"/>
            <a:pathLst>
              <a:path w="18339280" h="878456">
                <a:moveTo>
                  <a:pt x="0" y="0"/>
                </a:moveTo>
                <a:lnTo>
                  <a:pt x="18339280" y="0"/>
                </a:lnTo>
                <a:lnTo>
                  <a:pt x="18339280" y="878456"/>
                </a:lnTo>
                <a:lnTo>
                  <a:pt x="0" y="87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649502" y="931536"/>
            <a:ext cx="1224124" cy="294960"/>
          </a:xfrm>
          <a:custGeom>
            <a:avLst/>
            <a:gdLst/>
            <a:ahLst/>
            <a:cxnLst/>
            <a:rect l="l" t="t" r="r" b="b"/>
            <a:pathLst>
              <a:path w="1224124" h="294960">
                <a:moveTo>
                  <a:pt x="0" y="0"/>
                </a:moveTo>
                <a:lnTo>
                  <a:pt x="1224124" y="0"/>
                </a:lnTo>
                <a:lnTo>
                  <a:pt x="1224124" y="294960"/>
                </a:lnTo>
                <a:lnTo>
                  <a:pt x="0" y="294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404650" y="-91550"/>
            <a:ext cx="934502" cy="10762625"/>
            <a:chOff x="0" y="0"/>
            <a:chExt cx="1246003" cy="14350167"/>
          </a:xfrm>
        </p:grpSpPr>
        <p:sp>
          <p:nvSpPr>
            <p:cNvPr id="6" name="Freeform 6"/>
            <p:cNvSpPr/>
            <p:nvPr/>
          </p:nvSpPr>
          <p:spPr>
            <a:xfrm>
              <a:off x="508" y="0"/>
              <a:ext cx="1244981" cy="14350118"/>
            </a:xfrm>
            <a:custGeom>
              <a:avLst/>
              <a:gdLst/>
              <a:ahLst/>
              <a:cxnLst/>
              <a:rect l="l" t="t" r="r" b="b"/>
              <a:pathLst>
                <a:path w="1244981" h="14350118">
                  <a:moveTo>
                    <a:pt x="0" y="0"/>
                  </a:moveTo>
                  <a:lnTo>
                    <a:pt x="1235202" y="14350118"/>
                  </a:lnTo>
                  <a:lnTo>
                    <a:pt x="1235202" y="12562022"/>
                  </a:lnTo>
                  <a:lnTo>
                    <a:pt x="1244981" y="1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-51152" y="-546999"/>
            <a:ext cx="934502" cy="10925549"/>
            <a:chOff x="0" y="0"/>
            <a:chExt cx="1246003" cy="14567399"/>
          </a:xfrm>
        </p:grpSpPr>
        <p:sp>
          <p:nvSpPr>
            <p:cNvPr id="8" name="Freeform 8"/>
            <p:cNvSpPr/>
            <p:nvPr/>
          </p:nvSpPr>
          <p:spPr>
            <a:xfrm>
              <a:off x="508" y="0"/>
              <a:ext cx="1244981" cy="14567350"/>
            </a:xfrm>
            <a:custGeom>
              <a:avLst/>
              <a:gdLst/>
              <a:ahLst/>
              <a:cxnLst/>
              <a:rect l="l" t="t" r="r" b="b"/>
              <a:pathLst>
                <a:path w="1244981" h="14567350">
                  <a:moveTo>
                    <a:pt x="0" y="0"/>
                  </a:moveTo>
                  <a:lnTo>
                    <a:pt x="1235202" y="14567350"/>
                  </a:lnTo>
                  <a:lnTo>
                    <a:pt x="1235202" y="12752185"/>
                  </a:lnTo>
                  <a:lnTo>
                    <a:pt x="1244981" y="1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3863922" y="277624"/>
            <a:ext cx="744753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740" b="1">
                <a:solidFill>
                  <a:srgbClr val="2A2E3F"/>
                </a:solidFill>
                <a:latin typeface="Arimo Bold"/>
                <a:ea typeface="Arimo Bold"/>
                <a:cs typeface="Arimo Bold"/>
                <a:sym typeface="Arimo Bold"/>
              </a:rPr>
              <a:t>Top 10 Revenue by Make/Model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20357" y="3657239"/>
            <a:ext cx="9165711" cy="520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740" lvl="1" indent="-286370" algn="l">
              <a:lnSpc>
                <a:spcPts val="3183"/>
              </a:lnSpc>
              <a:buFont typeface="Arial"/>
              <a:buChar char="•"/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Ford leads overall sales revenue with close to 30% , accounting for over a quarter of total car sales.</a:t>
            </a:r>
          </a:p>
          <a:p>
            <a:pPr marL="572740" lvl="1" indent="-286370" algn="l">
              <a:lnSpc>
                <a:spcPts val="3183"/>
              </a:lnSpc>
              <a:buFont typeface="Arial"/>
              <a:buChar char="•"/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Ford’s strong revenue leadership suggests:</a:t>
            </a:r>
          </a:p>
          <a:p>
            <a:pPr algn="l">
              <a:lnSpc>
                <a:spcPts val="3183"/>
              </a:lnSpc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       High unit sales and/or higher-priced    models.</a:t>
            </a:r>
          </a:p>
          <a:p>
            <a:pPr algn="l">
              <a:lnSpc>
                <a:spcPts val="3183"/>
              </a:lnSpc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       Possibly dominant presence in fleet or financing sales.</a:t>
            </a:r>
          </a:p>
          <a:p>
            <a:pPr marL="572740" lvl="1" indent="-286370" algn="l">
              <a:lnSpc>
                <a:spcPts val="3183"/>
              </a:lnSpc>
              <a:buFont typeface="Arial"/>
              <a:buChar char="•"/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Luxury brands (BMW, Mercedes-Benz, Lexus) together make up ~20% of total revenue — a solid high-value segment despite lower unit volumes.</a:t>
            </a:r>
          </a:p>
          <a:p>
            <a:pPr marL="572740" lvl="1" indent="-286370" algn="l">
              <a:lnSpc>
                <a:spcPts val="3183"/>
              </a:lnSpc>
              <a:buFont typeface="Arial"/>
              <a:buChar char="•"/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Mid-range brands (Toyota, Nissan, Honda, Chevrolet) show balanced revenue, likely due to steady used car demand.</a:t>
            </a:r>
          </a:p>
          <a:p>
            <a:pPr marL="572740" lvl="1" indent="-286370" algn="l">
              <a:lnSpc>
                <a:spcPts val="3183"/>
              </a:lnSpc>
              <a:buFont typeface="Arial"/>
              <a:buChar char="•"/>
            </a:pPr>
            <a:r>
              <a:rPr lang="en-US" sz="2652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Revenue distribution shows healthy brand diversity — no single brand overly dominates beyond Ford.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06" y="1399935"/>
            <a:ext cx="8280323" cy="7181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6207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6600" y="-659150"/>
            <a:ext cx="1127258" cy="11024414"/>
            <a:chOff x="0" y="0"/>
            <a:chExt cx="1503011" cy="146992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045" cy="14698980"/>
            </a:xfrm>
            <a:custGeom>
              <a:avLst/>
              <a:gdLst/>
              <a:ahLst/>
              <a:cxnLst/>
              <a:rect l="l" t="t" r="r" b="b"/>
              <a:pathLst>
                <a:path w="1503045" h="14698980">
                  <a:moveTo>
                    <a:pt x="16256" y="0"/>
                  </a:moveTo>
                  <a:lnTo>
                    <a:pt x="0" y="14686026"/>
                  </a:lnTo>
                  <a:lnTo>
                    <a:pt x="1503045" y="14698980"/>
                  </a:lnTo>
                  <a:lnTo>
                    <a:pt x="701802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60748" y="-93554"/>
            <a:ext cx="1127268" cy="10458748"/>
            <a:chOff x="0" y="0"/>
            <a:chExt cx="1503024" cy="13944997"/>
          </a:xfrm>
        </p:grpSpPr>
        <p:sp>
          <p:nvSpPr>
            <p:cNvPr id="7" name="Freeform 7"/>
            <p:cNvSpPr/>
            <p:nvPr/>
          </p:nvSpPr>
          <p:spPr>
            <a:xfrm>
              <a:off x="508" y="0"/>
              <a:ext cx="1501902" cy="13944981"/>
            </a:xfrm>
            <a:custGeom>
              <a:avLst/>
              <a:gdLst/>
              <a:ahLst/>
              <a:cxnLst/>
              <a:rect l="l" t="t" r="r" b="b"/>
              <a:pathLst>
                <a:path w="1501902" h="13944981">
                  <a:moveTo>
                    <a:pt x="0" y="0"/>
                  </a:moveTo>
                  <a:lnTo>
                    <a:pt x="1490091" y="13944981"/>
                  </a:lnTo>
                  <a:lnTo>
                    <a:pt x="1490091" y="12207367"/>
                  </a:lnTo>
                  <a:lnTo>
                    <a:pt x="1501902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31083" y="738217"/>
            <a:ext cx="124813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1"/>
              </a:lnSpc>
            </a:pPr>
            <a:r>
              <a:rPr lang="en-US" sz="360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Top 10 : Sales Volume by State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48" y="1404369"/>
            <a:ext cx="9013320" cy="8107847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671184" y="2905295"/>
            <a:ext cx="7588116" cy="633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196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Sales: R 5.75 Billion</a:t>
            </a:r>
          </a:p>
          <a:p>
            <a:pPr algn="l">
              <a:lnSpc>
                <a:spcPts val="2635"/>
              </a:lnSpc>
            </a:pPr>
            <a:endParaRPr lang="en-US" sz="2196" b="1">
              <a:solidFill>
                <a:srgbClr val="2A2E3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635"/>
              </a:lnSpc>
            </a:pPr>
            <a:r>
              <a:rPr lang="en-US" sz="2196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3 States: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Florida (FL): R 1.15B (~20% of total)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California (CA): R 1.06B (~18%)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Pennsylvania (PA): R 861M (~15%)</a:t>
            </a:r>
          </a:p>
          <a:p>
            <a:pPr algn="l">
              <a:lnSpc>
                <a:spcPts val="2635"/>
              </a:lnSpc>
            </a:pPr>
            <a:r>
              <a:rPr lang="en-US" sz="2196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Followed by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Midwest states (IL, OH, MO) account for ~15%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Missouri (MO): R 232M (~4%)</a:t>
            </a:r>
          </a:p>
          <a:p>
            <a:pPr algn="l">
              <a:lnSpc>
                <a:spcPts val="2635"/>
              </a:lnSpc>
            </a:pPr>
            <a:endParaRPr lang="en-US" sz="2196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35"/>
              </a:lnSpc>
            </a:pPr>
            <a:r>
              <a:rPr lang="en-US" sz="2196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Regional Insights: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Southeast states (FL, GA, TN) account for ~34% of total sales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Midwest states (IL, OH, MO) account for ~15%</a:t>
            </a:r>
          </a:p>
          <a:p>
            <a:pPr algn="l">
              <a:lnSpc>
                <a:spcPts val="2635"/>
              </a:lnSpc>
            </a:pPr>
            <a:endParaRPr lang="en-US" sz="2196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35"/>
              </a:lnSpc>
            </a:pPr>
            <a:r>
              <a:rPr lang="en-US" sz="2196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Observation: </a:t>
            </a:r>
          </a:p>
          <a:p>
            <a:pPr algn="l">
              <a:lnSpc>
                <a:spcPts val="2635"/>
              </a:lnSpc>
            </a:pPr>
            <a:r>
              <a:rPr lang="en-US" sz="2196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Sales are heavily concentrated in a few key states, with FL, CA, and PA contributing over 50% of total revenue.</a:t>
            </a:r>
          </a:p>
          <a:p>
            <a:pPr algn="l">
              <a:lnSpc>
                <a:spcPts val="2635"/>
              </a:lnSpc>
            </a:pPr>
            <a:endParaRPr lang="en-US" sz="2196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6207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6600" y="-659150"/>
            <a:ext cx="1127258" cy="11024414"/>
            <a:chOff x="0" y="0"/>
            <a:chExt cx="1503011" cy="146992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045" cy="14698980"/>
            </a:xfrm>
            <a:custGeom>
              <a:avLst/>
              <a:gdLst/>
              <a:ahLst/>
              <a:cxnLst/>
              <a:rect l="l" t="t" r="r" b="b"/>
              <a:pathLst>
                <a:path w="1503045" h="14698980">
                  <a:moveTo>
                    <a:pt x="16256" y="0"/>
                  </a:moveTo>
                  <a:lnTo>
                    <a:pt x="0" y="14686026"/>
                  </a:lnTo>
                  <a:lnTo>
                    <a:pt x="1503045" y="14698980"/>
                  </a:lnTo>
                  <a:lnTo>
                    <a:pt x="701802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60748" y="-93554"/>
            <a:ext cx="1127268" cy="10458748"/>
            <a:chOff x="0" y="0"/>
            <a:chExt cx="1503024" cy="13944997"/>
          </a:xfrm>
        </p:grpSpPr>
        <p:sp>
          <p:nvSpPr>
            <p:cNvPr id="7" name="Freeform 7"/>
            <p:cNvSpPr/>
            <p:nvPr/>
          </p:nvSpPr>
          <p:spPr>
            <a:xfrm>
              <a:off x="508" y="0"/>
              <a:ext cx="1501902" cy="13944981"/>
            </a:xfrm>
            <a:custGeom>
              <a:avLst/>
              <a:gdLst/>
              <a:ahLst/>
              <a:cxnLst/>
              <a:rect l="l" t="t" r="r" b="b"/>
              <a:pathLst>
                <a:path w="1501902" h="13944981">
                  <a:moveTo>
                    <a:pt x="0" y="0"/>
                  </a:moveTo>
                  <a:lnTo>
                    <a:pt x="1490091" y="13944981"/>
                  </a:lnTo>
                  <a:lnTo>
                    <a:pt x="1490091" y="12207367"/>
                  </a:lnTo>
                  <a:lnTo>
                    <a:pt x="1501902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31083" y="738217"/>
            <a:ext cx="1248135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50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Top 10 : Count of Vehicles Sold</a:t>
            </a:r>
          </a:p>
          <a:p>
            <a:pPr algn="ctr">
              <a:lnSpc>
                <a:spcPts val="4321"/>
              </a:lnSpc>
            </a:pPr>
            <a:endParaRPr lang="en-US" sz="350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823999" y="3153179"/>
            <a:ext cx="8598175" cy="334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Top 3 states by volume: FL, CA, PA (~51% of total vehicles sold)</a:t>
            </a:r>
          </a:p>
          <a:p>
            <a:pPr algn="l">
              <a:lnSpc>
                <a:spcPts val="2986"/>
              </a:lnSpc>
            </a:pPr>
            <a:r>
              <a:rPr lang="en-US" sz="2488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Observation: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Vehicle count trends largely match revenue trends, confirming FL and CA as key markets.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Some states like PA and TX have relatively high revenue but moderate volume, suggesting higher average selling prices per vehicle.</a:t>
            </a:r>
          </a:p>
          <a:p>
            <a:pPr algn="l">
              <a:lnSpc>
                <a:spcPts val="2986"/>
              </a:lnSpc>
            </a:pPr>
            <a:endParaRPr lang="en-US" sz="2488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807" y="2192403"/>
            <a:ext cx="8554710" cy="6935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6207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6600" y="-659150"/>
            <a:ext cx="1127258" cy="11024414"/>
            <a:chOff x="0" y="0"/>
            <a:chExt cx="1503011" cy="146992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045" cy="14698980"/>
            </a:xfrm>
            <a:custGeom>
              <a:avLst/>
              <a:gdLst/>
              <a:ahLst/>
              <a:cxnLst/>
              <a:rect l="l" t="t" r="r" b="b"/>
              <a:pathLst>
                <a:path w="1503045" h="14698980">
                  <a:moveTo>
                    <a:pt x="16256" y="0"/>
                  </a:moveTo>
                  <a:lnTo>
                    <a:pt x="0" y="14686026"/>
                  </a:lnTo>
                  <a:lnTo>
                    <a:pt x="1503045" y="14698980"/>
                  </a:lnTo>
                  <a:lnTo>
                    <a:pt x="701802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60748" y="-93554"/>
            <a:ext cx="1127268" cy="10458748"/>
            <a:chOff x="0" y="0"/>
            <a:chExt cx="1503024" cy="13944997"/>
          </a:xfrm>
        </p:grpSpPr>
        <p:sp>
          <p:nvSpPr>
            <p:cNvPr id="7" name="Freeform 7"/>
            <p:cNvSpPr/>
            <p:nvPr/>
          </p:nvSpPr>
          <p:spPr>
            <a:xfrm>
              <a:off x="508" y="0"/>
              <a:ext cx="1501902" cy="13944981"/>
            </a:xfrm>
            <a:custGeom>
              <a:avLst/>
              <a:gdLst/>
              <a:ahLst/>
              <a:cxnLst/>
              <a:rect l="l" t="t" r="r" b="b"/>
              <a:pathLst>
                <a:path w="1501902" h="13944981">
                  <a:moveTo>
                    <a:pt x="0" y="0"/>
                  </a:moveTo>
                  <a:lnTo>
                    <a:pt x="1490091" y="13944981"/>
                  </a:lnTo>
                  <a:lnTo>
                    <a:pt x="1490091" y="12207367"/>
                  </a:lnTo>
                  <a:lnTo>
                    <a:pt x="1501902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31083" y="738217"/>
            <a:ext cx="124813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1"/>
              </a:lnSpc>
            </a:pPr>
            <a:r>
              <a:rPr lang="en-US" sz="360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Sales by Year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3999" y="2435086"/>
            <a:ext cx="8598175" cy="520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Massive Growth in 2015: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Sales jumped from ~R607M in 2014 to ~R6.99B in 2015.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That’s an increase of over 1,050%—huge year-on-year growth.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2014 vs 2015 Contribution: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2014 accounts for ~8% of total sales.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2015 accounts for ~92% of total sales.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Observation: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Likely due to expansion of inventory, market reach, or a new high-selling model.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2015 was clearly the dominant sales year, driving overall revenue.</a:t>
            </a:r>
          </a:p>
          <a:p>
            <a:pPr algn="l">
              <a:lnSpc>
                <a:spcPts val="2986"/>
              </a:lnSpc>
            </a:pPr>
            <a:endParaRPr lang="en-US" sz="2488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89" y="2267865"/>
            <a:ext cx="7729327" cy="6286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6207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6600" y="-659150"/>
            <a:ext cx="1127258" cy="11024414"/>
            <a:chOff x="0" y="0"/>
            <a:chExt cx="1503011" cy="146992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045" cy="14698980"/>
            </a:xfrm>
            <a:custGeom>
              <a:avLst/>
              <a:gdLst/>
              <a:ahLst/>
              <a:cxnLst/>
              <a:rect l="l" t="t" r="r" b="b"/>
              <a:pathLst>
                <a:path w="1503045" h="14698980">
                  <a:moveTo>
                    <a:pt x="16256" y="0"/>
                  </a:moveTo>
                  <a:lnTo>
                    <a:pt x="0" y="14686026"/>
                  </a:lnTo>
                  <a:lnTo>
                    <a:pt x="1503045" y="14698980"/>
                  </a:lnTo>
                  <a:lnTo>
                    <a:pt x="701802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60748" y="-93554"/>
            <a:ext cx="1127268" cy="10458748"/>
            <a:chOff x="0" y="0"/>
            <a:chExt cx="1503024" cy="13944997"/>
          </a:xfrm>
        </p:grpSpPr>
        <p:sp>
          <p:nvSpPr>
            <p:cNvPr id="7" name="Freeform 7"/>
            <p:cNvSpPr/>
            <p:nvPr/>
          </p:nvSpPr>
          <p:spPr>
            <a:xfrm>
              <a:off x="508" y="0"/>
              <a:ext cx="1501902" cy="13944981"/>
            </a:xfrm>
            <a:custGeom>
              <a:avLst/>
              <a:gdLst/>
              <a:ahLst/>
              <a:cxnLst/>
              <a:rect l="l" t="t" r="r" b="b"/>
              <a:pathLst>
                <a:path w="1501902" h="13944981">
                  <a:moveTo>
                    <a:pt x="0" y="0"/>
                  </a:moveTo>
                  <a:lnTo>
                    <a:pt x="1490091" y="13944981"/>
                  </a:lnTo>
                  <a:lnTo>
                    <a:pt x="1490091" y="12207367"/>
                  </a:lnTo>
                  <a:lnTo>
                    <a:pt x="1501902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55460" y="299429"/>
            <a:ext cx="124813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1"/>
              </a:lnSpc>
            </a:pPr>
            <a:r>
              <a:rPr lang="en-US" sz="360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Revenue by Seller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3999" y="2435086"/>
            <a:ext cx="8598175" cy="482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488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Seller: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Ford Motor Credit Company LLC leads with ~R341M (~39% of total seller sales).</a:t>
            </a:r>
          </a:p>
          <a:p>
            <a:pPr algn="l">
              <a:lnSpc>
                <a:spcPts val="2986"/>
              </a:lnSpc>
            </a:pPr>
            <a:r>
              <a:rPr lang="en-US" sz="2488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Moderate Performers: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Nissan-Infiniti LT (~R272M, 31%)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The Hertz Corporation (~R251M, 29%)</a:t>
            </a:r>
          </a:p>
          <a:p>
            <a:pPr algn="l">
              <a:lnSpc>
                <a:spcPts val="2986"/>
              </a:lnSpc>
            </a:pPr>
            <a:r>
              <a:rPr lang="en-US" sz="2488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Observation: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Sales are fairly concentrated among three major sellers, with Ford slightly ahead.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The distribution suggests opportunities to optimize partnerships or negotiate better terms with these high-performing sellers.</a:t>
            </a:r>
          </a:p>
          <a:p>
            <a:pPr algn="l">
              <a:lnSpc>
                <a:spcPts val="2986"/>
              </a:lnSpc>
            </a:pPr>
            <a:endParaRPr lang="en-US" sz="2488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14" y="593380"/>
            <a:ext cx="7540300" cy="9229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2000" y="66207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6600" y="-659150"/>
            <a:ext cx="1127258" cy="11024414"/>
            <a:chOff x="0" y="0"/>
            <a:chExt cx="1503011" cy="146992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3045" cy="14698980"/>
            </a:xfrm>
            <a:custGeom>
              <a:avLst/>
              <a:gdLst/>
              <a:ahLst/>
              <a:cxnLst/>
              <a:rect l="l" t="t" r="r" b="b"/>
              <a:pathLst>
                <a:path w="1503045" h="14698980">
                  <a:moveTo>
                    <a:pt x="16256" y="0"/>
                  </a:moveTo>
                  <a:lnTo>
                    <a:pt x="0" y="14686026"/>
                  </a:lnTo>
                  <a:lnTo>
                    <a:pt x="1503045" y="14698980"/>
                  </a:lnTo>
                  <a:lnTo>
                    <a:pt x="701802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60748" y="-93554"/>
            <a:ext cx="1127268" cy="10458748"/>
            <a:chOff x="0" y="0"/>
            <a:chExt cx="1503024" cy="13944997"/>
          </a:xfrm>
        </p:grpSpPr>
        <p:sp>
          <p:nvSpPr>
            <p:cNvPr id="7" name="Freeform 7"/>
            <p:cNvSpPr/>
            <p:nvPr/>
          </p:nvSpPr>
          <p:spPr>
            <a:xfrm>
              <a:off x="508" y="0"/>
              <a:ext cx="1501902" cy="13944981"/>
            </a:xfrm>
            <a:custGeom>
              <a:avLst/>
              <a:gdLst/>
              <a:ahLst/>
              <a:cxnLst/>
              <a:rect l="l" t="t" r="r" b="b"/>
              <a:pathLst>
                <a:path w="1501902" h="13944981">
                  <a:moveTo>
                    <a:pt x="0" y="0"/>
                  </a:moveTo>
                  <a:lnTo>
                    <a:pt x="1490091" y="13944981"/>
                  </a:lnTo>
                  <a:lnTo>
                    <a:pt x="1490091" y="12207367"/>
                  </a:lnTo>
                  <a:lnTo>
                    <a:pt x="1501902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55460" y="299429"/>
            <a:ext cx="124813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1"/>
              </a:lnSpc>
            </a:pPr>
            <a:r>
              <a:rPr lang="en-US" sz="360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Depreciation Trend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3999" y="2435086"/>
            <a:ext cx="8598175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488" b="1">
                <a:solidFill>
                  <a:srgbClr val="2A2E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Vehicle age effect: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As expected, newer model years have higher selling prices, indicating that depreciation strongly influences resale value.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As model year gets older, average selling price drops sharply — this is a textbook depreciation effect.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endParaRPr lang="en-US" sz="2488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Newer model years command higher prices.</a:t>
            </a:r>
          </a:p>
          <a:p>
            <a:pPr marL="537275" lvl="1" indent="-268638" algn="l">
              <a:lnSpc>
                <a:spcPts val="2986"/>
              </a:lnSpc>
              <a:buFont typeface="Arial"/>
              <a:buChar char="•"/>
            </a:pPr>
            <a:r>
              <a:rPr lang="en-US" sz="2488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Price drops as vehicles age, likely due to depreciation.</a:t>
            </a:r>
          </a:p>
          <a:p>
            <a:pPr algn="l">
              <a:lnSpc>
                <a:spcPts val="2986"/>
              </a:lnSpc>
            </a:pPr>
            <a:endParaRPr lang="en-US" sz="2488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766" y="1163577"/>
            <a:ext cx="7271884" cy="7136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166" y="2090004"/>
            <a:ext cx="2241616" cy="534606"/>
          </a:xfrm>
          <a:custGeom>
            <a:avLst/>
            <a:gdLst/>
            <a:ahLst/>
            <a:cxnLst/>
            <a:rect l="l" t="t" r="r" b="b"/>
            <a:pathLst>
              <a:path w="2241616" h="534606">
                <a:moveTo>
                  <a:pt x="0" y="0"/>
                </a:moveTo>
                <a:lnTo>
                  <a:pt x="2241616" y="0"/>
                </a:lnTo>
                <a:lnTo>
                  <a:pt x="2241616" y="534606"/>
                </a:lnTo>
                <a:lnTo>
                  <a:pt x="0" y="53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2000" y="60195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6" y="9411014"/>
            <a:ext cx="18288128" cy="876006"/>
          </a:xfrm>
          <a:custGeom>
            <a:avLst/>
            <a:gdLst/>
            <a:ahLst/>
            <a:cxnLst/>
            <a:rect l="l" t="t" r="r" b="b"/>
            <a:pathLst>
              <a:path w="18288128" h="876006">
                <a:moveTo>
                  <a:pt x="0" y="0"/>
                </a:moveTo>
                <a:lnTo>
                  <a:pt x="18288128" y="0"/>
                </a:lnTo>
                <a:lnTo>
                  <a:pt x="18288128" y="876006"/>
                </a:lnTo>
                <a:lnTo>
                  <a:pt x="0" y="876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48000" y="3085900"/>
            <a:ext cx="2518704" cy="600702"/>
          </a:xfrm>
          <a:custGeom>
            <a:avLst/>
            <a:gdLst/>
            <a:ahLst/>
            <a:cxnLst/>
            <a:rect l="l" t="t" r="r" b="b"/>
            <a:pathLst>
              <a:path w="2518704" h="600702">
                <a:moveTo>
                  <a:pt x="0" y="0"/>
                </a:moveTo>
                <a:lnTo>
                  <a:pt x="2518704" y="0"/>
                </a:lnTo>
                <a:lnTo>
                  <a:pt x="2518704" y="600702"/>
                </a:lnTo>
                <a:lnTo>
                  <a:pt x="0" y="60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20450" y="299200"/>
            <a:ext cx="1310320" cy="312494"/>
          </a:xfrm>
          <a:custGeom>
            <a:avLst/>
            <a:gdLst/>
            <a:ahLst/>
            <a:cxnLst/>
            <a:rect l="l" t="t" r="r" b="b"/>
            <a:pathLst>
              <a:path w="1310320" h="312494">
                <a:moveTo>
                  <a:pt x="0" y="0"/>
                </a:moveTo>
                <a:lnTo>
                  <a:pt x="1310320" y="0"/>
                </a:lnTo>
                <a:lnTo>
                  <a:pt x="1310320" y="312494"/>
                </a:lnTo>
                <a:lnTo>
                  <a:pt x="0" y="312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07600" y="2493250"/>
            <a:ext cx="1310320" cy="312494"/>
          </a:xfrm>
          <a:custGeom>
            <a:avLst/>
            <a:gdLst/>
            <a:ahLst/>
            <a:cxnLst/>
            <a:rect l="l" t="t" r="r" b="b"/>
            <a:pathLst>
              <a:path w="1310320" h="312494">
                <a:moveTo>
                  <a:pt x="0" y="0"/>
                </a:moveTo>
                <a:lnTo>
                  <a:pt x="1310320" y="0"/>
                </a:lnTo>
                <a:lnTo>
                  <a:pt x="1310320" y="312494"/>
                </a:lnTo>
                <a:lnTo>
                  <a:pt x="0" y="312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97000" y="3686600"/>
            <a:ext cx="1310320" cy="312494"/>
          </a:xfrm>
          <a:custGeom>
            <a:avLst/>
            <a:gdLst/>
            <a:ahLst/>
            <a:cxnLst/>
            <a:rect l="l" t="t" r="r" b="b"/>
            <a:pathLst>
              <a:path w="1310320" h="312494">
                <a:moveTo>
                  <a:pt x="0" y="0"/>
                </a:moveTo>
                <a:lnTo>
                  <a:pt x="1310320" y="0"/>
                </a:lnTo>
                <a:lnTo>
                  <a:pt x="1310320" y="312494"/>
                </a:lnTo>
                <a:lnTo>
                  <a:pt x="0" y="312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7404650" y="-91550"/>
            <a:ext cx="934502" cy="10775051"/>
            <a:chOff x="0" y="0"/>
            <a:chExt cx="1246003" cy="14366735"/>
          </a:xfrm>
        </p:grpSpPr>
        <p:sp>
          <p:nvSpPr>
            <p:cNvPr id="10" name="Freeform 10"/>
            <p:cNvSpPr/>
            <p:nvPr/>
          </p:nvSpPr>
          <p:spPr>
            <a:xfrm>
              <a:off x="508" y="0"/>
              <a:ext cx="1244981" cy="14366686"/>
            </a:xfrm>
            <a:custGeom>
              <a:avLst/>
              <a:gdLst/>
              <a:ahLst/>
              <a:cxnLst/>
              <a:rect l="l" t="t" r="r" b="b"/>
              <a:pathLst>
                <a:path w="1244981" h="14366686">
                  <a:moveTo>
                    <a:pt x="0" y="0"/>
                  </a:moveTo>
                  <a:lnTo>
                    <a:pt x="1235202" y="14366686"/>
                  </a:lnTo>
                  <a:lnTo>
                    <a:pt x="1235202" y="12576526"/>
                  </a:lnTo>
                  <a:lnTo>
                    <a:pt x="1244981" y="127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id="11" name="Group 11"/>
          <p:cNvGrpSpPr/>
          <p:nvPr/>
        </p:nvGrpSpPr>
        <p:grpSpPr>
          <a:xfrm rot="-10800000">
            <a:off x="-51152" y="-372124"/>
            <a:ext cx="934502" cy="10750674"/>
            <a:chOff x="0" y="0"/>
            <a:chExt cx="1246003" cy="14334232"/>
          </a:xfrm>
        </p:grpSpPr>
        <p:sp>
          <p:nvSpPr>
            <p:cNvPr id="12" name="Freeform 12"/>
            <p:cNvSpPr/>
            <p:nvPr/>
          </p:nvSpPr>
          <p:spPr>
            <a:xfrm>
              <a:off x="508" y="0"/>
              <a:ext cx="1244981" cy="14334184"/>
            </a:xfrm>
            <a:custGeom>
              <a:avLst/>
              <a:gdLst/>
              <a:ahLst/>
              <a:cxnLst/>
              <a:rect l="l" t="t" r="r" b="b"/>
              <a:pathLst>
                <a:path w="1244981" h="14334184">
                  <a:moveTo>
                    <a:pt x="0" y="0"/>
                  </a:moveTo>
                  <a:lnTo>
                    <a:pt x="1235202" y="14334184"/>
                  </a:lnTo>
                  <a:lnTo>
                    <a:pt x="1235202" y="12548073"/>
                  </a:lnTo>
                  <a:lnTo>
                    <a:pt x="1244981" y="1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440004" y="101041"/>
            <a:ext cx="152251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2A2E3F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44243" y="3465678"/>
            <a:ext cx="56641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8804152" y="2595676"/>
            <a:ext cx="1170600" cy="1282800"/>
            <a:chOff x="0" y="0"/>
            <a:chExt cx="1560800" cy="1710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60830" cy="1710436"/>
            </a:xfrm>
            <a:custGeom>
              <a:avLst/>
              <a:gdLst/>
              <a:ahLst/>
              <a:cxnLst/>
              <a:rect l="l" t="t" r="r" b="b"/>
              <a:pathLst>
                <a:path w="1560830" h="1710436">
                  <a:moveTo>
                    <a:pt x="0" y="0"/>
                  </a:moveTo>
                  <a:lnTo>
                    <a:pt x="1560830" y="0"/>
                  </a:lnTo>
                  <a:lnTo>
                    <a:pt x="1560830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804152" y="4835276"/>
            <a:ext cx="1170600" cy="1282800"/>
            <a:chOff x="0" y="0"/>
            <a:chExt cx="1560800" cy="1710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60830" cy="1710436"/>
            </a:xfrm>
            <a:custGeom>
              <a:avLst/>
              <a:gdLst/>
              <a:ahLst/>
              <a:cxnLst/>
              <a:rect l="l" t="t" r="r" b="b"/>
              <a:pathLst>
                <a:path w="1560830" h="1710436">
                  <a:moveTo>
                    <a:pt x="0" y="0"/>
                  </a:moveTo>
                  <a:lnTo>
                    <a:pt x="1560830" y="0"/>
                  </a:lnTo>
                  <a:lnTo>
                    <a:pt x="1560830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6375000" y="81991"/>
            <a:ext cx="756212" cy="558390"/>
          </a:xfrm>
          <a:custGeom>
            <a:avLst/>
            <a:gdLst/>
            <a:ahLst/>
            <a:cxnLst/>
            <a:rect l="l" t="t" r="r" b="b"/>
            <a:pathLst>
              <a:path w="756212" h="558390">
                <a:moveTo>
                  <a:pt x="0" y="0"/>
                </a:moveTo>
                <a:lnTo>
                  <a:pt x="756212" y="0"/>
                </a:lnTo>
                <a:lnTo>
                  <a:pt x="756212" y="558390"/>
                </a:lnTo>
                <a:lnTo>
                  <a:pt x="0" y="5583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697531"/>
            <a:ext cx="14303102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Focus on High-Performing States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Prioritize marketing, inventory, and promotions in FL, CA, and PA, which contribute the majority of sales and revenue.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targeted campaigns, loyalty programs, and exclusive offers to retain top customers.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63062" y="2505188"/>
            <a:ext cx="14034379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3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Boost Lower-Performing States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Target the Lower-Performing States with promotions, dealer incentives, or pop-up sales events.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Analyze why these states underperform—consider demographic trends, competitor activity, or pricing strategies.</a:t>
            </a:r>
          </a:p>
          <a:p>
            <a:pPr algn="l">
              <a:lnSpc>
                <a:spcPts val="2825"/>
              </a:lnSpc>
            </a:pPr>
            <a:endParaRPr lang="en-US" sz="235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4311632"/>
            <a:ext cx="14034379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3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Optimize Inventory by Vehicle Age and Price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on newer models  that command higher average selling prices.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Maintain a balanced mix of slightly older, popular models to appeal to budget-conscious buyers.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Align stock levels with state-specific demand and historical sales trends.</a:t>
            </a:r>
          </a:p>
          <a:p>
            <a:pPr algn="l">
              <a:lnSpc>
                <a:spcPts val="2825"/>
              </a:lnSpc>
            </a:pPr>
            <a:endParaRPr lang="en-US" sz="235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5948506"/>
            <a:ext cx="14034379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3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Data-Driven Pricing &amp; Promotions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 average selling price trends and vehicle mileage to adjust pricing competitively.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Consider bundling services, warranties, or financing offers to increase average revenue per vehicle.</a:t>
            </a:r>
          </a:p>
          <a:p>
            <a:pPr algn="l">
              <a:lnSpc>
                <a:spcPts val="2825"/>
              </a:lnSpc>
            </a:pPr>
            <a:endParaRPr lang="en-US" sz="235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97423" y="7710631"/>
            <a:ext cx="14034379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3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Explore Revenue Growth Opportunities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Analyze models and regions that generate high revenue but moderate volume (e.g., PA, TX) to identify premium pricing strategies.</a:t>
            </a:r>
          </a:p>
          <a:p>
            <a:pPr marL="508425" lvl="1" indent="-254213" algn="l">
              <a:lnSpc>
                <a:spcPts val="2825"/>
              </a:lnSpc>
              <a:buFont typeface="Arial"/>
              <a:buChar char="•"/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Expand digital marketing and online sales channels to reach new customers efficiently.</a:t>
            </a:r>
          </a:p>
          <a:p>
            <a:pPr algn="l">
              <a:lnSpc>
                <a:spcPts val="2825"/>
              </a:lnSpc>
            </a:pPr>
            <a:endParaRPr lang="en-US" sz="235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04762" y="4178606"/>
            <a:ext cx="2764732" cy="663250"/>
          </a:xfrm>
          <a:custGeom>
            <a:avLst/>
            <a:gdLst/>
            <a:ahLst/>
            <a:cxnLst/>
            <a:rect l="l" t="t" r="r" b="b"/>
            <a:pathLst>
              <a:path w="2764732" h="663250">
                <a:moveTo>
                  <a:pt x="0" y="0"/>
                </a:moveTo>
                <a:lnTo>
                  <a:pt x="2764732" y="0"/>
                </a:lnTo>
                <a:lnTo>
                  <a:pt x="2764732" y="663250"/>
                </a:lnTo>
                <a:lnTo>
                  <a:pt x="0" y="66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90246" y="2484536"/>
            <a:ext cx="2080924" cy="499198"/>
          </a:xfrm>
          <a:custGeom>
            <a:avLst/>
            <a:gdLst/>
            <a:ahLst/>
            <a:cxnLst/>
            <a:rect l="l" t="t" r="r" b="b"/>
            <a:pathLst>
              <a:path w="2080924" h="499198">
                <a:moveTo>
                  <a:pt x="0" y="0"/>
                </a:moveTo>
                <a:lnTo>
                  <a:pt x="2080924" y="0"/>
                </a:lnTo>
                <a:lnTo>
                  <a:pt x="2080924" y="499198"/>
                </a:lnTo>
                <a:lnTo>
                  <a:pt x="0" y="499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82000" y="5691650"/>
            <a:ext cx="22451972" cy="7974524"/>
          </a:xfrm>
          <a:custGeom>
            <a:avLst/>
            <a:gdLst/>
            <a:ahLst/>
            <a:cxnLst/>
            <a:rect l="l" t="t" r="r" b="b"/>
            <a:pathLst>
              <a:path w="22451972" h="7974524">
                <a:moveTo>
                  <a:pt x="0" y="0"/>
                </a:moveTo>
                <a:lnTo>
                  <a:pt x="22451972" y="0"/>
                </a:lnTo>
                <a:lnTo>
                  <a:pt x="22451972" y="7974524"/>
                </a:lnTo>
                <a:lnTo>
                  <a:pt x="0" y="79745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761106"/>
            <a:ext cx="18288128" cy="1525878"/>
          </a:xfrm>
          <a:custGeom>
            <a:avLst/>
            <a:gdLst/>
            <a:ahLst/>
            <a:cxnLst/>
            <a:rect l="l" t="t" r="r" b="b"/>
            <a:pathLst>
              <a:path w="18288128" h="1525878">
                <a:moveTo>
                  <a:pt x="0" y="0"/>
                </a:moveTo>
                <a:lnTo>
                  <a:pt x="18288128" y="0"/>
                </a:lnTo>
                <a:lnTo>
                  <a:pt x="18288128" y="1525878"/>
                </a:lnTo>
                <a:lnTo>
                  <a:pt x="0" y="15258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81954" y="747586"/>
            <a:ext cx="2080924" cy="499198"/>
          </a:xfrm>
          <a:custGeom>
            <a:avLst/>
            <a:gdLst/>
            <a:ahLst/>
            <a:cxnLst/>
            <a:rect l="l" t="t" r="r" b="b"/>
            <a:pathLst>
              <a:path w="2080924" h="499198">
                <a:moveTo>
                  <a:pt x="0" y="0"/>
                </a:moveTo>
                <a:lnTo>
                  <a:pt x="2080924" y="0"/>
                </a:lnTo>
                <a:lnTo>
                  <a:pt x="2080924" y="499198"/>
                </a:lnTo>
                <a:lnTo>
                  <a:pt x="0" y="499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79200" y="579798"/>
            <a:ext cx="2093094" cy="499196"/>
          </a:xfrm>
          <a:custGeom>
            <a:avLst/>
            <a:gdLst/>
            <a:ahLst/>
            <a:cxnLst/>
            <a:rect l="l" t="t" r="r" b="b"/>
            <a:pathLst>
              <a:path w="2093094" h="499196">
                <a:moveTo>
                  <a:pt x="0" y="0"/>
                </a:moveTo>
                <a:lnTo>
                  <a:pt x="2093094" y="0"/>
                </a:lnTo>
                <a:lnTo>
                  <a:pt x="2093094" y="499196"/>
                </a:lnTo>
                <a:lnTo>
                  <a:pt x="0" y="499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160750" y="-70000"/>
            <a:ext cx="1232252" cy="10435204"/>
            <a:chOff x="0" y="0"/>
            <a:chExt cx="1643003" cy="13913605"/>
          </a:xfrm>
        </p:grpSpPr>
        <p:sp>
          <p:nvSpPr>
            <p:cNvPr id="9" name="Freeform 9"/>
            <p:cNvSpPr/>
            <p:nvPr/>
          </p:nvSpPr>
          <p:spPr>
            <a:xfrm>
              <a:off x="635" y="0"/>
              <a:ext cx="1641729" cy="13913613"/>
            </a:xfrm>
            <a:custGeom>
              <a:avLst/>
              <a:gdLst/>
              <a:ahLst/>
              <a:cxnLst/>
              <a:rect l="l" t="t" r="r" b="b"/>
              <a:pathLst>
                <a:path w="1641729" h="13913613">
                  <a:moveTo>
                    <a:pt x="0" y="0"/>
                  </a:moveTo>
                  <a:lnTo>
                    <a:pt x="1628775" y="13913613"/>
                  </a:lnTo>
                  <a:lnTo>
                    <a:pt x="1628775" y="12179935"/>
                  </a:lnTo>
                  <a:lnTo>
                    <a:pt x="1641729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-105004" y="-171710"/>
            <a:ext cx="1232252" cy="10536810"/>
            <a:chOff x="0" y="0"/>
            <a:chExt cx="1643003" cy="14049080"/>
          </a:xfrm>
        </p:grpSpPr>
        <p:sp>
          <p:nvSpPr>
            <p:cNvPr id="11" name="Freeform 11"/>
            <p:cNvSpPr/>
            <p:nvPr/>
          </p:nvSpPr>
          <p:spPr>
            <a:xfrm>
              <a:off x="635" y="0"/>
              <a:ext cx="1641729" cy="14049121"/>
            </a:xfrm>
            <a:custGeom>
              <a:avLst/>
              <a:gdLst/>
              <a:ahLst/>
              <a:cxnLst/>
              <a:rect l="l" t="t" r="r" b="b"/>
              <a:pathLst>
                <a:path w="1641729" h="14049121">
                  <a:moveTo>
                    <a:pt x="0" y="0"/>
                  </a:moveTo>
                  <a:lnTo>
                    <a:pt x="1628775" y="14049121"/>
                  </a:lnTo>
                  <a:lnTo>
                    <a:pt x="1628775" y="12298426"/>
                  </a:lnTo>
                  <a:lnTo>
                    <a:pt x="1641729" y="12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2528300" y="4897622"/>
            <a:ext cx="1341718" cy="319994"/>
          </a:xfrm>
          <a:custGeom>
            <a:avLst/>
            <a:gdLst/>
            <a:ahLst/>
            <a:cxnLst/>
            <a:rect l="l" t="t" r="r" b="b"/>
            <a:pathLst>
              <a:path w="1341718" h="319994">
                <a:moveTo>
                  <a:pt x="0" y="0"/>
                </a:moveTo>
                <a:lnTo>
                  <a:pt x="1341718" y="0"/>
                </a:lnTo>
                <a:lnTo>
                  <a:pt x="1341718" y="319994"/>
                </a:lnTo>
                <a:lnTo>
                  <a:pt x="0" y="3199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144400" y="627230"/>
            <a:ext cx="354604" cy="350126"/>
            <a:chOff x="0" y="0"/>
            <a:chExt cx="472805" cy="4668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821" cy="466852"/>
            </a:xfrm>
            <a:custGeom>
              <a:avLst/>
              <a:gdLst/>
              <a:ahLst/>
              <a:cxnLst/>
              <a:rect l="l" t="t" r="r" b="b"/>
              <a:pathLst>
                <a:path w="472821" h="466852">
                  <a:moveTo>
                    <a:pt x="236093" y="0"/>
                  </a:moveTo>
                  <a:cubicBezTo>
                    <a:pt x="236093" y="0"/>
                    <a:pt x="236093" y="233426"/>
                    <a:pt x="0" y="233426"/>
                  </a:cubicBezTo>
                  <a:cubicBezTo>
                    <a:pt x="236093" y="233426"/>
                    <a:pt x="236093" y="466852"/>
                    <a:pt x="236093" y="466852"/>
                  </a:cubicBezTo>
                  <a:cubicBezTo>
                    <a:pt x="236093" y="466852"/>
                    <a:pt x="236093" y="233426"/>
                    <a:pt x="472821" y="233426"/>
                  </a:cubicBezTo>
                  <a:cubicBezTo>
                    <a:pt x="236093" y="233426"/>
                    <a:pt x="236093" y="0"/>
                    <a:pt x="23609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506950" y="3180380"/>
            <a:ext cx="354604" cy="350126"/>
            <a:chOff x="0" y="0"/>
            <a:chExt cx="472805" cy="4668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2821" cy="466852"/>
            </a:xfrm>
            <a:custGeom>
              <a:avLst/>
              <a:gdLst/>
              <a:ahLst/>
              <a:cxnLst/>
              <a:rect l="l" t="t" r="r" b="b"/>
              <a:pathLst>
                <a:path w="472821" h="466852">
                  <a:moveTo>
                    <a:pt x="236093" y="0"/>
                  </a:moveTo>
                  <a:cubicBezTo>
                    <a:pt x="236093" y="0"/>
                    <a:pt x="236093" y="233426"/>
                    <a:pt x="0" y="233426"/>
                  </a:cubicBezTo>
                  <a:cubicBezTo>
                    <a:pt x="236093" y="233426"/>
                    <a:pt x="236093" y="466852"/>
                    <a:pt x="236093" y="466852"/>
                  </a:cubicBezTo>
                  <a:cubicBezTo>
                    <a:pt x="236093" y="466852"/>
                    <a:pt x="236093" y="233426"/>
                    <a:pt x="472821" y="233426"/>
                  </a:cubicBezTo>
                  <a:cubicBezTo>
                    <a:pt x="236093" y="233426"/>
                    <a:pt x="236093" y="0"/>
                    <a:pt x="236093" y="0"/>
                  </a:cubicBezTo>
                  <a:close/>
                </a:path>
              </a:pathLst>
            </a:custGeom>
            <a:solidFill>
              <a:srgbClr val="C33C13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2890826" y="1975276"/>
            <a:ext cx="1170600" cy="1282800"/>
            <a:chOff x="0" y="0"/>
            <a:chExt cx="1560800" cy="1710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60830" cy="1710436"/>
            </a:xfrm>
            <a:custGeom>
              <a:avLst/>
              <a:gdLst/>
              <a:ahLst/>
              <a:cxnLst/>
              <a:rect l="l" t="t" r="r" b="b"/>
              <a:pathLst>
                <a:path w="1560830" h="1710436">
                  <a:moveTo>
                    <a:pt x="0" y="0"/>
                  </a:moveTo>
                  <a:lnTo>
                    <a:pt x="1560830" y="0"/>
                  </a:lnTo>
                  <a:lnTo>
                    <a:pt x="1560830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4545152" y="1975276"/>
            <a:ext cx="1170600" cy="1282800"/>
            <a:chOff x="0" y="0"/>
            <a:chExt cx="1560800" cy="1710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60830" cy="1710436"/>
            </a:xfrm>
            <a:custGeom>
              <a:avLst/>
              <a:gdLst/>
              <a:ahLst/>
              <a:cxnLst/>
              <a:rect l="l" t="t" r="r" b="b"/>
              <a:pathLst>
                <a:path w="1560830" h="1710436">
                  <a:moveTo>
                    <a:pt x="0" y="0"/>
                  </a:moveTo>
                  <a:lnTo>
                    <a:pt x="1560830" y="0"/>
                  </a:lnTo>
                  <a:lnTo>
                    <a:pt x="1560830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831601" y="1447375"/>
            <a:ext cx="8713350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0"/>
              </a:lnSpc>
            </a:pPr>
            <a:r>
              <a:rPr lang="en-US" sz="13000">
                <a:solidFill>
                  <a:srgbClr val="2A2E3F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0156" y="3634494"/>
            <a:ext cx="8713350" cy="364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2A2E3F"/>
                </a:solidFill>
                <a:latin typeface="Arimo"/>
                <a:ea typeface="Arimo"/>
                <a:cs typeface="Arimo"/>
                <a:sym typeface="Arimo"/>
              </a:rPr>
              <a:t>Analysis conducted by </a:t>
            </a:r>
          </a:p>
          <a:p>
            <a:pPr algn="l">
              <a:lnSpc>
                <a:spcPts val="4320"/>
              </a:lnSpc>
            </a:pPr>
            <a:endParaRPr lang="en-US" sz="3600">
              <a:solidFill>
                <a:srgbClr val="2A2E3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2A2E3F"/>
                </a:solidFill>
                <a:latin typeface="Arimo"/>
                <a:ea typeface="Arimo"/>
                <a:cs typeface="Arimo"/>
                <a:sym typeface="Arimo"/>
              </a:rPr>
              <a:t>T K Ndlovu</a:t>
            </a:r>
          </a:p>
          <a:p>
            <a:pPr algn="l">
              <a:lnSpc>
                <a:spcPts val="4320"/>
              </a:lnSpc>
            </a:pPr>
            <a:endParaRPr lang="en-US" sz="3600">
              <a:solidFill>
                <a:srgbClr val="2A2E3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info.kylendlovu@gmail.com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F"/>
                </a:solidFill>
                <a:latin typeface="Open Sans"/>
                <a:ea typeface="Open Sans"/>
                <a:cs typeface="Open Sans"/>
                <a:sym typeface="Open Sans"/>
              </a:rPr>
              <a:t>+27 69 1414 241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2A2E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3155082" y="2360530"/>
            <a:ext cx="642085" cy="550104"/>
          </a:xfrm>
          <a:custGeom>
            <a:avLst/>
            <a:gdLst/>
            <a:ahLst/>
            <a:cxnLst/>
            <a:rect l="l" t="t" r="r" b="b"/>
            <a:pathLst>
              <a:path w="642085" h="550104">
                <a:moveTo>
                  <a:pt x="0" y="0"/>
                </a:moveTo>
                <a:lnTo>
                  <a:pt x="642085" y="0"/>
                </a:lnTo>
                <a:lnTo>
                  <a:pt x="642085" y="550104"/>
                </a:lnTo>
                <a:lnTo>
                  <a:pt x="0" y="5501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1236500" y="5297756"/>
            <a:ext cx="354604" cy="350126"/>
            <a:chOff x="0" y="0"/>
            <a:chExt cx="472805" cy="4668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821" cy="466852"/>
            </a:xfrm>
            <a:custGeom>
              <a:avLst/>
              <a:gdLst/>
              <a:ahLst/>
              <a:cxnLst/>
              <a:rect l="l" t="t" r="r" b="b"/>
              <a:pathLst>
                <a:path w="472821" h="466852">
                  <a:moveTo>
                    <a:pt x="236093" y="0"/>
                  </a:moveTo>
                  <a:cubicBezTo>
                    <a:pt x="236093" y="0"/>
                    <a:pt x="236093" y="233426"/>
                    <a:pt x="0" y="233426"/>
                  </a:cubicBezTo>
                  <a:cubicBezTo>
                    <a:pt x="236093" y="233426"/>
                    <a:pt x="236093" y="466852"/>
                    <a:pt x="236093" y="466852"/>
                  </a:cubicBezTo>
                  <a:cubicBezTo>
                    <a:pt x="236093" y="466852"/>
                    <a:pt x="236093" y="233426"/>
                    <a:pt x="472821" y="233426"/>
                  </a:cubicBezTo>
                  <a:cubicBezTo>
                    <a:pt x="236093" y="233426"/>
                    <a:pt x="236093" y="0"/>
                    <a:pt x="23609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313506" y="5884348"/>
            <a:ext cx="594886" cy="587402"/>
            <a:chOff x="0" y="0"/>
            <a:chExt cx="793181" cy="7832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93115" cy="783082"/>
            </a:xfrm>
            <a:custGeom>
              <a:avLst/>
              <a:gdLst/>
              <a:ahLst/>
              <a:cxnLst/>
              <a:rect l="l" t="t" r="r" b="b"/>
              <a:pathLst>
                <a:path w="793115" h="783082">
                  <a:moveTo>
                    <a:pt x="395986" y="0"/>
                  </a:moveTo>
                  <a:cubicBezTo>
                    <a:pt x="395986" y="0"/>
                    <a:pt x="395986" y="391541"/>
                    <a:pt x="0" y="391541"/>
                  </a:cubicBezTo>
                  <a:cubicBezTo>
                    <a:pt x="395986" y="391541"/>
                    <a:pt x="395986" y="783082"/>
                    <a:pt x="395986" y="783082"/>
                  </a:cubicBezTo>
                  <a:cubicBezTo>
                    <a:pt x="395986" y="783082"/>
                    <a:pt x="395986" y="391541"/>
                    <a:pt x="793115" y="391541"/>
                  </a:cubicBezTo>
                  <a:cubicBezTo>
                    <a:pt x="395986" y="391668"/>
                    <a:pt x="395986" y="0"/>
                    <a:pt x="39598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Arimo</vt:lpstr>
      <vt:lpstr>Arimo Bold</vt:lpstr>
      <vt:lpstr>Calibri</vt:lpstr>
      <vt:lpstr>Open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Car Dealership Business Plan by Slidesgo.pptx</dc:title>
  <dc:creator>Lihle Ndlovu</dc:creator>
  <cp:lastModifiedBy>Lihle Ndlovu</cp:lastModifiedBy>
  <cp:revision>2</cp:revision>
  <dcterms:created xsi:type="dcterms:W3CDTF">2006-08-16T00:00:00Z</dcterms:created>
  <dcterms:modified xsi:type="dcterms:W3CDTF">2025-11-08T12:42:34Z</dcterms:modified>
  <dc:identifier>DAG4GbctvjU</dc:identifier>
</cp:coreProperties>
</file>